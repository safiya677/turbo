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media/image1.jpeg" ContentType="image/jpeg"/>
  <Override PartName="/ppt/media/image2.png" ContentType="image/png"/>
  <Override PartName="/ppt/presentation.xml" ContentType="application/vnd.openxmlformats-officedocument.presentationml.presentation.main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BE4AA4-995F-4EBB-B52B-E07B9A0C10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350811-79A8-4639-9C71-C407AED3CD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8190C59-52E2-4A79-9FC4-26582C12D2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A10D2DB-36BD-4DD5-8C09-F46586B62E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CD7E81B-F181-401D-8C1D-C9230DDE5D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FCC4565-42B5-4F62-90BF-92D5C53866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3A38742-9505-47C7-93C5-7089EB0698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0667276-1BED-4050-ACB3-0AAF92E863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B893905-C5C8-406D-A399-84D5009B56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3D277EE-4BED-46CF-8028-92C6807C7A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74B0140-802A-45DF-8894-D47317DD40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AE433F-747E-4D52-B02F-9AF82E805BC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8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B02D03-36A0-4B43-8B3E-50971A417EA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D1BFE4-76D7-4996-AD14-E60926C01CCB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A33E37-4870-4848-B8C5-BB33314D7A0F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D1F301-5CC6-431C-8711-579F7F2941A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327AB5-8731-4B41-A67A-1BCB29E31EE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557D53-C021-4BB9-B676-C452D073D98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B4004A-F5C5-4CEF-A7F6-7BA3123E5FB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101BAB-BFBD-4911-8B0B-7E73E843ABA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923BEB-1BA4-4577-99AB-32B71ACF897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C06D3B-ED74-4E63-BE98-6E848509127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msk.rt.ru/checkup" TargetMode="External"/><Relationship Id="rId2" Type="http://schemas.openxmlformats.org/officeDocument/2006/relationships/hyperlink" Target="https://msk.rt.ru/checkup" TargetMode="External"/><Relationship Id="rId3" Type="http://schemas.openxmlformats.org/officeDocument/2006/relationships/hyperlink" Target="https://msk.rt.ru/checkup" TargetMode="External"/><Relationship Id="rId4" Type="http://schemas.openxmlformats.org/officeDocument/2006/relationships/hyperlink" Target="https://msk.rt.ru/checkup" TargetMode="External"/><Relationship Id="rId5" Type="http://schemas.openxmlformats.org/officeDocument/2006/relationships/hyperlink" Target="https://msk.rt.ru/checkup" TargetMode="External"/><Relationship Id="rId6" Type="http://schemas.openxmlformats.org/officeDocument/2006/relationships/hyperlink" Target="https://msk.rt.ru/checkup" TargetMode="External"/><Relationship Id="rId7" Type="http://schemas.openxmlformats.org/officeDocument/2006/relationships/hyperlink" Target="https://msk.rt.ru/checkup" TargetMode="External"/><Relationship Id="rId8" Type="http://schemas.openxmlformats.org/officeDocument/2006/relationships/hyperlink" Target="https://msk.rt.ru/checkup" TargetMode="External"/><Relationship Id="rId9" Type="http://schemas.openxmlformats.org/officeDocument/2006/relationships/hyperlink" Target="https://msk.rt.ru/checkup" TargetMode="External"/><Relationship Id="rId10" Type="http://schemas.openxmlformats.org/officeDocument/2006/relationships/hyperlink" Target="https://msk.rt.ru/checkup" TargetMode="External"/><Relationship Id="rId11" Type="http://schemas.openxmlformats.org/officeDocument/2006/relationships/hyperlink" Target="https://msk.rt.ru/checkup" TargetMode="External"/><Relationship Id="rId12" Type="http://schemas.openxmlformats.org/officeDocument/2006/relationships/hyperlink" Target="https://msk.rt.ru/checkup" TargetMode="External"/><Relationship Id="rId13" Type="http://schemas.openxmlformats.org/officeDocument/2006/relationships/hyperlink" Target="https://msk.rt.ru/checkup" TargetMode="External"/><Relationship Id="rId14" Type="http://schemas.openxmlformats.org/officeDocument/2006/relationships/hyperlink" Target="https://msk.rt.ru/checkup" TargetMode="External"/><Relationship Id="rId15" Type="http://schemas.openxmlformats.org/officeDocument/2006/relationships/hyperlink" Target="https://msk.rt.ru/checkup" TargetMode="External"/><Relationship Id="rId16" Type="http://schemas.openxmlformats.org/officeDocument/2006/relationships/hyperlink" Target="https://msk.rt.ru/checkup" TargetMode="External"/><Relationship Id="rId17" Type="http://schemas.openxmlformats.org/officeDocument/2006/relationships/hyperlink" Target="https://msk.rt.ru/checkup" TargetMode="External"/><Relationship Id="rId18" Type="http://schemas.openxmlformats.org/officeDocument/2006/relationships/hyperlink" Target="https://msk.rt.ru/checkup" TargetMode="External"/><Relationship Id="rId19" Type="http://schemas.openxmlformats.org/officeDocument/2006/relationships/hyperlink" Target="https://msk.rt.ru/checkup" TargetMode="External"/><Relationship Id="rId20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Сеть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. </a:t>
            </a: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Интернет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Цифровая грамотность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0" y="1298520"/>
            <a:ext cx="12191760" cy="555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48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До распространения Интернета во главе угла стояла компьютерная грамотность – понимание того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как решать задачи с помощью компьютера (умение пользоваться компьютером):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Люди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пользующиеся мышью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м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огут испытывать проблемы с сенсорным экраном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 наоборот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Люди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привыкшие к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windows,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могут испытывать проблемы при переходе на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unix/linux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Цифровая грамотность – умение оптимально использовать всемирную паутину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искать достоверную информацию в сети и ответственно ее использовать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-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поиск (умение искать данные и ориентироваться в них)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использование (доступной информации много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но не все данные важны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точны или актуальны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Способность анализировать информацию (отделить факты от домыслов) – крайне важный компьютерный навык)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 распространение Вами данных (выражение своих мыслей по некоторой теме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/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вопросу и публикация их в соцсетях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18560" y="417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Интернет не равно Всемирная паутина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1" name="Объект 4" descr=""/>
          <p:cNvPicPr/>
          <p:nvPr/>
        </p:nvPicPr>
        <p:blipFill>
          <a:blip r:embed="rId1"/>
          <a:stretch/>
        </p:blipFill>
        <p:spPr>
          <a:xfrm>
            <a:off x="2037240" y="1980000"/>
            <a:ext cx="4350960" cy="4350960"/>
          </a:xfrm>
          <a:prstGeom prst="rect">
            <a:avLst/>
          </a:prstGeom>
          <a:ln w="0">
            <a:noFill/>
          </a:ln>
        </p:spPr>
      </p:pic>
      <p:sp>
        <p:nvSpPr>
          <p:cNvPr id="72" name="TextBox 5"/>
          <p:cNvSpPr/>
          <p:nvPr/>
        </p:nvSpPr>
        <p:spPr>
          <a:xfrm>
            <a:off x="61560" y="1960200"/>
            <a:ext cx="1975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Обычный (поверхностный)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интернет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61560" y="4084200"/>
            <a:ext cx="205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Глубокий интернет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9"/>
          <p:cNvSpPr/>
          <p:nvPr/>
        </p:nvSpPr>
        <p:spPr>
          <a:xfrm>
            <a:off x="61560" y="5350320"/>
            <a:ext cx="131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Даркнет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19"/>
          <p:cNvSpPr/>
          <p:nvPr/>
        </p:nvSpPr>
        <p:spPr>
          <a:xfrm>
            <a:off x="6507720" y="5160600"/>
            <a:ext cx="55036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Наиболее закрытая часть глобальной сети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построенная поверх обычного Интернет в целях анонимности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Для доступа нужны специальные браузеры-программы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rgbClr val="17181f"/>
                </a:solidFill>
                <a:latin typeface="Inter var"/>
              </a:rPr>
              <a:t>(</a:t>
            </a:r>
            <a:r>
              <a:rPr b="0" lang="en-US" sz="1800" spc="-1" strike="noStrike">
                <a:solidFill>
                  <a:srgbClr val="17181f"/>
                </a:solidFill>
                <a:latin typeface="Inter var"/>
              </a:rPr>
              <a:t>TOR - </a:t>
            </a:r>
            <a:r>
              <a:rPr b="0" lang="ru-RU" sz="1800" spc="-1" strike="noStrike">
                <a:solidFill>
                  <a:srgbClr val="17181f"/>
                </a:solidFill>
                <a:latin typeface="Inter var"/>
              </a:rPr>
              <a:t>сокращенно от англ. </a:t>
            </a:r>
            <a:r>
              <a:rPr b="0" lang="en" sz="1800" spc="-1" strike="noStrike">
                <a:solidFill>
                  <a:srgbClr val="17181f"/>
                </a:solidFill>
                <a:latin typeface="Inter var"/>
              </a:rPr>
              <a:t>The Onion Router, Freenet, I2P </a:t>
            </a:r>
            <a:r>
              <a:rPr b="0" lang="ru-RU" sz="1800" spc="-1" strike="noStrike">
                <a:solidFill>
                  <a:srgbClr val="17181f"/>
                </a:solidFill>
                <a:latin typeface="Inter var"/>
              </a:rPr>
              <a:t> и пр</a:t>
            </a:r>
            <a:r>
              <a:rPr b="0" lang="en-US" sz="1800" spc="-1" strike="noStrike">
                <a:solidFill>
                  <a:srgbClr val="17181f"/>
                </a:solidFill>
                <a:latin typeface="Inter var"/>
              </a:rPr>
              <a:t>.</a:t>
            </a:r>
            <a:r>
              <a:rPr b="0" lang="en" sz="1800" spc="-1" strike="noStrike">
                <a:solidFill>
                  <a:srgbClr val="17181f"/>
                </a:solidFill>
                <a:latin typeface="Inter var"/>
              </a:rPr>
              <a:t>)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20"/>
          <p:cNvSpPr/>
          <p:nvPr/>
        </p:nvSpPr>
        <p:spPr>
          <a:xfrm>
            <a:off x="6626520" y="987840"/>
            <a:ext cx="556524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Открытая мировая коммуникационная инфраструктура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с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остоящая из взаимосвязанных компьютерных сетей и обеспечивающая доступ к удаленной информации и обмен информацией между компьютерами (проводная и беспроводная):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- оптоволокно (земляные или подводные работы)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- радиоволны (сотовая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/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мобильная связь (формат 3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G,4G,5G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),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 wi-fi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п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ередаваемый по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в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оздуху с помощью спутника (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SpaceX,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МТС к 2030 году планирует прямое соединение спутника и смартфона)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но надо платить за связь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- T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aara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от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Google: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если прокладка оптоволокна нерентабельна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а за спутниковую связь не платят клиенты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то лазерные лучи (в Дронах для получения канала)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Пропускная способность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540000" y="1460520"/>
            <a:ext cx="10515240" cy="53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83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Важно не путать пропускную способность со скоростью интернета: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Пропускная способность — это теоретический максимум, заложенный в технологии (максимальный объём данных, который может быть передан по каналу связи за единицу времени)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Скорость интернета — реальная передача данных, которую вы получаете в конкретный момент</a:t>
            </a:r>
            <a:r>
              <a:rPr b="0" lang="en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Она всегда ниже пропускной способности из-за помех, расстояния, загруженности сети и других факторов.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Чем меньше пропускная способность,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тем медленнее сеть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Оцените скорость Интернета на своем ПК - </a:t>
            </a:r>
            <a:r>
              <a:rPr b="0" lang="en" sz="2800" spc="-1" strike="noStrike">
                <a:solidFill>
                  <a:srgbClr val="0563c1"/>
                </a:solidFill>
                <a:latin typeface="Arial"/>
                <a:hlinkClick r:id="rId1"/>
              </a:rPr>
              <a:t>https://msk.rt.ru › checkup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2"/>
              </a:rPr>
              <a:t> (сфотографируй значение скорости)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3"/>
              </a:rPr>
              <a:t>(Спроси у Квена: файл размером 1 Гб </a:t>
            </a:r>
            <a:r>
              <a:rPr b="0" lang="ru-RU" sz="2800" spc="-1" strike="noStrike" u="sng">
                <a:solidFill>
                  <a:srgbClr val="0563c1"/>
                </a:solidFill>
                <a:uFillTx/>
                <a:latin typeface="Arial"/>
                <a:hlinkClick r:id="rId4"/>
              </a:rPr>
              <a:t>будет скачиваться за какое время на скорости &lt;введи свое значение</a:t>
            </a:r>
            <a:r>
              <a:rPr b="0" lang="en-US" sz="2800" spc="-1" strike="noStrike" u="sng">
                <a:solidFill>
                  <a:srgbClr val="0563c1"/>
                </a:solidFill>
                <a:uFillTx/>
                <a:latin typeface="Arial"/>
                <a:hlinkClick r:id="rId5"/>
              </a:rPr>
              <a:t>&gt;?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6"/>
              </a:rPr>
              <a:t>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7"/>
              </a:rPr>
              <a:t>(У смартфона нет провода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8"/>
              </a:rPr>
              <a:t>, 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9"/>
              </a:rPr>
              <a:t>как в классе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10"/>
              </a:rPr>
              <a:t> 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11"/>
              </a:rPr>
              <a:t>у компьютеров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12"/>
              </a:rPr>
              <a:t>.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13"/>
              </a:rPr>
              <a:t> Спроси у квена про пропускную способность мобильной связи формата 3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14"/>
              </a:rPr>
              <a:t>G,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15"/>
              </a:rPr>
              <a:t> 4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16"/>
              </a:rPr>
              <a:t>G,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17"/>
              </a:rPr>
              <a:t> 5</a:t>
            </a:r>
            <a:r>
              <a:rPr b="0" lang="en-US" sz="2800" spc="-1" strike="noStrike">
                <a:solidFill>
                  <a:srgbClr val="0563c1"/>
                </a:solidFill>
                <a:latin typeface="Arial"/>
                <a:hlinkClick r:id="rId18"/>
              </a:rPr>
              <a:t>G. </a:t>
            </a:r>
            <a:r>
              <a:rPr b="0" lang="ru-RU" sz="2800" spc="-1" strike="noStrike">
                <a:solidFill>
                  <a:srgbClr val="0563c1"/>
                </a:solidFill>
                <a:latin typeface="Arial"/>
                <a:hlinkClick r:id="rId19"/>
              </a:rPr>
              <a:t>Сфоткай скорости разных форматов)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Облако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6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906" lnSpcReduction="10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Стив Джобс (1955-2011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с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оучредитель компании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Apple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Мне не нужен жесткий диск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если быстрее подключиться к серверу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Давайте сравним скорости записи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 у Квена - Как узнать реальную скорость чтения/записи диска? Выполни инструкцию квена и сфотографируй значение величины скорости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Можем ли мы согласиться с утверждением Джобса?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Стриминг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763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Рид Хастингс (род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1960,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соучредитель компании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Netflix):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следующие 10 лет прирост [клиентов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]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будет идти за счет стриминга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История стриминга началась в 1910 году: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Джордж Оуэн Сквайр в 1910 г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Изобрел способ передавать музыку по проводам (потом продавал музыку для лифтов за месячную плату)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Стриминг позволяет смотреть передачи в прямом эфире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Недостатки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быстрый и стабильный интернет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может стоить дорого из-за потребления сетевого трафика (это не пропускная способность! Спроси у квена про сетевой трафик – что это?)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Маршрутизация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0" y="1444680"/>
            <a:ext cx="12191760" cy="54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Узел сети – это любое устройство,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посылающее или принимающее данные через сеть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Компьютер (узел сети) в одной части планеты Земля НЕЛЬЗЯ напрямую подключить к компьютеру (узлу сети) в другой части планеты Земля: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сигнал идет от узла к узлу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пока не достигнет цели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передающем узле данные ОБЯЗАТЕЛЬНО разбиваются на пакеты в связи с требованиями канала связи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например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чтобы БЫСТРО передать данные и потом БЫСТРО проверить на ошибки (для медных проводов – до 1500 байт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оптоволокно – до 9000 байт)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Поиск наиболее быстрого и надежного пути между двумя устройствами (узлами сети) называют маршрутизацией: стараются,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чтобы ВСЕ пакеты одного соединения двигались по одному маршруту (иначе,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например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будет неправильный порядок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п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акетов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что вызовет повторные передачи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 значит более низкую скорость)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Маршрутизация в смартфон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Спросить у квена –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sim-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карта сама может ли передавать и принимать данные по сети? Если нет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то что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sim-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карте нужно для работы в интернет?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(ответ сфотографировать)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Как узнать адрес Вашего узла в сети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855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Спросить у квена – как узнать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IP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-адрес моего смартфона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Интернет ?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поликлинике –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ip-а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дреса узлам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сети выдает администратор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(адрес принтера и др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.)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 к квена как узнать свой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ip-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адрес на машине с астра линукс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В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ыполни инструкции и сфоткай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9" name="Рисунок 3" descr=""/>
          <p:cNvPicPr/>
          <p:nvPr/>
        </p:nvPicPr>
        <p:blipFill>
          <a:blip r:embed="rId1"/>
          <a:stretch/>
        </p:blipFill>
        <p:spPr>
          <a:xfrm>
            <a:off x="6198840" y="1687680"/>
            <a:ext cx="5992920" cy="503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Пошли сообщение по сети соседу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Разбиваемся на группы по две машины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1-2, 3-4, 5-6, …, 21-22, 23-24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-25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Спроси у квена как послать сообщение по сети на соседнюю машину с астра линукс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Отправь соседу сообщение Привет с машины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&lt;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Номер машины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&gt;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Отправь сообщение сам себе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Отправь широковещательное сообщение по сети класса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10568</TotalTime>
  <Application>LibreOffice/7.6.7.2$Linux_X86_64 LibreOffice_project/60$Build-2</Application>
  <AppVersion>15.0000</AppVersion>
  <Words>902</Words>
  <Paragraphs>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2025-10-26T17:58:23Z</dcterms:created>
  <dc:creator>Елена Демидова</dc:creator>
  <dc:description/>
  <dc:language>ru-RU</dc:language>
  <cp:lastModifiedBy/>
  <dcterms:modified xsi:type="dcterms:W3CDTF">2025-11-14T16:07:29Z</dcterms:modified>
  <cp:revision>62</cp:revision>
  <dc:subject/>
  <dc:title>Сеть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10</vt:i4>
  </property>
</Properties>
</file>